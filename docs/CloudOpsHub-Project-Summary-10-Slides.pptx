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_rels/slide9.xml.rels><?xml version="1.0" encoding="UTF-8" standalone="yes"?><Relationships xmlns="http://schemas.openxmlformats.org/package/2006/relationships"/>
</file>

<file path=ppt/slides/_rels/slide10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hape 3"/>
          <p:cNvSpPr/>
          <p:nvPr/>
        </p:nvSpPr>
        <p:spPr>
          <a:xfrm>
            <a:off x="0" y="0"/>
            <a:ext cx="12192000" cy="620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Shape 4"/>
          <p:cNvSpPr/>
          <p:nvPr/>
        </p:nvSpPr>
        <p:spPr>
          <a:xfrm>
            <a:off x="0" y="620000"/>
            <a:ext cx="12192000" cy="76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hape 5"/>
          <p:cNvSpPr/>
          <p:nvPr/>
        </p:nvSpPr>
        <p:spPr>
          <a:xfrm>
            <a:off x="0" y="6580000"/>
            <a:ext cx="12192000" cy="278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Text 6"/>
          <p:cNvSpPr txBox="1"/>
          <p:nvPr/>
        </p:nvSpPr>
        <p:spPr>
          <a:xfrm>
            <a:off x="520000" y="145000"/>
            <a:ext cx="77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000" b="1">
                <a:solidFill>
                  <a:srgbClr val="FFFFFF"/>
                </a:solidFill>
                <a:latin typeface="Arial"/>
              </a:rPr>
              <a:t>CloudOpsHub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700000" y="18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500" b="0">
                <a:solidFill>
                  <a:srgbClr val="D1D5DB"/>
                </a:solidFill>
                <a:latin typeface="Arial"/>
              </a:rPr>
              <a:t>01 / 10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50000" y="900000"/>
            <a:ext cx="8700000" cy="8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000" b="1">
                <a:solidFill>
                  <a:srgbClr val="232F3E"/>
                </a:solidFill>
                <a:latin typeface="Arial"/>
              </a:rPr>
              <a:t>Multi-AZ GitOps Infrastructure Platform on AWS</a:t>
            </a:r>
          </a:p>
        </p:txBody>
      </p:sp>
      <p:sp>
        <p:nvSpPr>
          <p:cNvPr id="9" name="Bullets 9"/>
          <p:cNvSpPr txBox="1"/>
          <p:nvPr/>
        </p:nvSpPr>
        <p:spPr>
          <a:xfrm>
            <a:off x="760000" y="2220000"/>
            <a:ext cx="7750000" cy="3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EKS production cluster across two availability zones</a:t>
            </a:r>
          </a:p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ArgoCD GitOps delivery with Docker Hub images</a:t>
            </a:r>
          </a:p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RDS PostgreSQL Multi-AZ, ALB HTTPS, Grafana, Loki, Slack alerts, Velero backups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0000" y="6652000"/>
            <a:ext cx="6000000" cy="17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100" b="0">
                <a:solidFill>
                  <a:srgbClr val="FFFFFF"/>
                </a:solidFill>
                <a:latin typeface="Arial"/>
              </a:rPr>
              <a:t>CloudOpsHub | Executive project summary</a:t>
            </a:r>
          </a:p>
        </p:txBody>
      </p:sp>
      <p:sp>
        <p:nvSpPr>
          <p:cNvPr id="11" name="Shape 11"/>
          <p:cNvSpPr/>
          <p:nvPr/>
        </p:nvSpPr>
        <p:spPr>
          <a:xfrm>
            <a:off x="9300000" y="1180000"/>
            <a:ext cx="2350000" cy="445000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 12"/>
          <p:cNvSpPr txBox="1"/>
          <p:nvPr/>
        </p:nvSpPr>
        <p:spPr>
          <a:xfrm>
            <a:off x="9570000" y="1430000"/>
            <a:ext cx="185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1900" b="1">
                <a:solidFill>
                  <a:srgbClr val="232F3E"/>
                </a:solidFill>
                <a:latin typeface="Arial"/>
              </a:rPr>
              <a:t>AWS Platform</a:t>
            </a:r>
          </a:p>
        </p:txBody>
      </p:sp>
      <p:sp>
        <p:nvSpPr>
          <p:cNvPr id="13" name="Shape 13"/>
          <p:cNvSpPr/>
          <p:nvPr/>
        </p:nvSpPr>
        <p:spPr>
          <a:xfrm>
            <a:off x="9850000" y="1840000"/>
            <a:ext cx="1300000" cy="13000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Text 14"/>
          <p:cNvSpPr txBox="1"/>
          <p:nvPr/>
        </p:nvSpPr>
        <p:spPr>
          <a:xfrm>
            <a:off x="9550000" y="2250000"/>
            <a:ext cx="1850000" cy="8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1900" b="1">
                <a:solidFill>
                  <a:srgbClr val="111827"/>
                </a:solidFill>
                <a:latin typeface="Arial"/>
              </a:rPr>
              <a:t>Production URL: https://app.devopslegend.click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9550000" y="3370000"/>
            <a:ext cx="185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1650" b="0">
                <a:solidFill>
                  <a:srgbClr val="4B5563"/>
                </a:solidFill>
                <a:latin typeface="Arial"/>
              </a:rPr>
              <a:t>GitOps | EKS | RDS | ALB | Grafana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hape 3"/>
          <p:cNvSpPr/>
          <p:nvPr/>
        </p:nvSpPr>
        <p:spPr>
          <a:xfrm>
            <a:off x="0" y="0"/>
            <a:ext cx="12192000" cy="620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Shape 4"/>
          <p:cNvSpPr/>
          <p:nvPr/>
        </p:nvSpPr>
        <p:spPr>
          <a:xfrm>
            <a:off x="0" y="620000"/>
            <a:ext cx="12192000" cy="76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hape 5"/>
          <p:cNvSpPr/>
          <p:nvPr/>
        </p:nvSpPr>
        <p:spPr>
          <a:xfrm>
            <a:off x="0" y="6580000"/>
            <a:ext cx="12192000" cy="278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Text 6"/>
          <p:cNvSpPr txBox="1"/>
          <p:nvPr/>
        </p:nvSpPr>
        <p:spPr>
          <a:xfrm>
            <a:off x="520000" y="145000"/>
            <a:ext cx="77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000" b="1">
                <a:solidFill>
                  <a:srgbClr val="FFFFFF"/>
                </a:solidFill>
                <a:latin typeface="Arial"/>
              </a:rPr>
              <a:t>Project Objective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700000" y="18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500" b="0">
                <a:solidFill>
                  <a:srgbClr val="D1D5DB"/>
                </a:solidFill>
                <a:latin typeface="Arial"/>
              </a:rPr>
              <a:t>02 / 10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50000" y="900000"/>
            <a:ext cx="8700000" cy="8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000" b="1">
                <a:solidFill>
                  <a:srgbClr val="232F3E"/>
                </a:solidFill>
                <a:latin typeface="Arial"/>
              </a:rPr>
              <a:t>Build a production-style platform, not only a demo application.</a:t>
            </a:r>
          </a:p>
        </p:txBody>
      </p:sp>
      <p:sp>
        <p:nvSpPr>
          <p:cNvPr id="9" name="Bullets 9"/>
          <p:cNvSpPr txBox="1"/>
          <p:nvPr/>
        </p:nvSpPr>
        <p:spPr>
          <a:xfrm>
            <a:off x="760000" y="2220000"/>
            <a:ext cx="7750000" cy="3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Prove frontend, backend, and database connectivity end to end</a:t>
            </a:r>
          </a:p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Run locally first, then deploy to Kubernetes and AWS</a:t>
            </a:r>
          </a:p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Use GitHub Actions and ArgoCD for repeatable delivery</a:t>
            </a:r>
          </a:p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Add observability, alerting, HTTPS, and backup validation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0000" y="6652000"/>
            <a:ext cx="6000000" cy="17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100" b="0">
                <a:solidFill>
                  <a:srgbClr val="FFFFFF"/>
                </a:solidFill>
                <a:latin typeface="Arial"/>
              </a:rPr>
              <a:t>CloudOpsHub | Goal and scope</a:t>
            </a:r>
          </a:p>
        </p:txBody>
      </p:sp>
      <p:sp>
        <p:nvSpPr>
          <p:cNvPr id="11" name="Shape 11"/>
          <p:cNvSpPr/>
          <p:nvPr/>
        </p:nvSpPr>
        <p:spPr>
          <a:xfrm>
            <a:off x="9300000" y="1180000"/>
            <a:ext cx="2350000" cy="445000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 12"/>
          <p:cNvSpPr txBox="1"/>
          <p:nvPr/>
        </p:nvSpPr>
        <p:spPr>
          <a:xfrm>
            <a:off x="9570000" y="1430000"/>
            <a:ext cx="185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1900" b="1">
                <a:solidFill>
                  <a:srgbClr val="232F3E"/>
                </a:solidFill>
                <a:latin typeface="Arial"/>
              </a:rPr>
              <a:t>AWS Platform</a:t>
            </a:r>
          </a:p>
        </p:txBody>
      </p:sp>
      <p:sp>
        <p:nvSpPr>
          <p:cNvPr id="13" name="Shape 13"/>
          <p:cNvSpPr/>
          <p:nvPr/>
        </p:nvSpPr>
        <p:spPr>
          <a:xfrm>
            <a:off x="9850000" y="1840000"/>
            <a:ext cx="1300000" cy="13000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Text 14"/>
          <p:cNvSpPr txBox="1"/>
          <p:nvPr/>
        </p:nvSpPr>
        <p:spPr>
          <a:xfrm>
            <a:off x="9580000" y="2250000"/>
            <a:ext cx="1800000" cy="1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2350" b="1">
                <a:solidFill>
                  <a:srgbClr val="232F3E"/>
                </a:solidFill>
                <a:latin typeface="Arial"/>
              </a:rPr>
              <a:t>Reliable
Observable
Repeatable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hape 3"/>
          <p:cNvSpPr/>
          <p:nvPr/>
        </p:nvSpPr>
        <p:spPr>
          <a:xfrm>
            <a:off x="0" y="0"/>
            <a:ext cx="12192000" cy="620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Shape 4"/>
          <p:cNvSpPr/>
          <p:nvPr/>
        </p:nvSpPr>
        <p:spPr>
          <a:xfrm>
            <a:off x="0" y="620000"/>
            <a:ext cx="12192000" cy="76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hape 5"/>
          <p:cNvSpPr/>
          <p:nvPr/>
        </p:nvSpPr>
        <p:spPr>
          <a:xfrm>
            <a:off x="0" y="6580000"/>
            <a:ext cx="12192000" cy="278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Text 6"/>
          <p:cNvSpPr txBox="1"/>
          <p:nvPr/>
        </p:nvSpPr>
        <p:spPr>
          <a:xfrm>
            <a:off x="520000" y="145000"/>
            <a:ext cx="77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000" b="1">
                <a:solidFill>
                  <a:srgbClr val="FFFFFF"/>
                </a:solidFill>
                <a:latin typeface="Arial"/>
              </a:rPr>
              <a:t>Architecture Overview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700000" y="18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500" b="0">
                <a:solidFill>
                  <a:srgbClr val="D1D5DB"/>
                </a:solidFill>
                <a:latin typeface="Arial"/>
              </a:rPr>
              <a:t>03 / 10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50000" y="900000"/>
            <a:ext cx="8700000" cy="8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000" b="1">
                <a:solidFill>
                  <a:srgbClr val="232F3E"/>
                </a:solidFill>
                <a:latin typeface="Arial"/>
              </a:rPr>
              <a:t>The platform follows a GitOps operating model from code to production.</a:t>
            </a:r>
          </a:p>
        </p:txBody>
      </p:sp>
      <p:sp>
        <p:nvSpPr>
          <p:cNvPr id="9" name="Bullets 9"/>
          <p:cNvSpPr txBox="1"/>
          <p:nvPr/>
        </p:nvSpPr>
        <p:spPr>
          <a:xfrm>
            <a:off x="760000" y="2220000"/>
            <a:ext cx="7750000" cy="3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Developer pushes code to GitHub on the active branch</a:t>
            </a:r>
          </a:p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GitHub Actions builds and scans container images</a:t>
            </a:r>
          </a:p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Images are pushed to Docker Hub with immutable Git SHA tags</a:t>
            </a:r>
          </a:p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ArgoCD syncs Helm charts into EKS</a:t>
            </a:r>
          </a:p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ALB exposes the frontend and backend connects to RDS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0000" y="6652000"/>
            <a:ext cx="6000000" cy="17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100" b="0">
                <a:solidFill>
                  <a:srgbClr val="FFFFFF"/>
                </a:solidFill>
                <a:latin typeface="Arial"/>
              </a:rPr>
              <a:t>CloudOpsHub | Delivery architecture</a:t>
            </a:r>
          </a:p>
        </p:txBody>
      </p:sp>
      <p:sp>
        <p:nvSpPr>
          <p:cNvPr id="11" name="Shape 11"/>
          <p:cNvSpPr/>
          <p:nvPr/>
        </p:nvSpPr>
        <p:spPr>
          <a:xfrm>
            <a:off x="9300000" y="1180000"/>
            <a:ext cx="2350000" cy="445000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 12"/>
          <p:cNvSpPr txBox="1"/>
          <p:nvPr/>
        </p:nvSpPr>
        <p:spPr>
          <a:xfrm>
            <a:off x="9570000" y="1430000"/>
            <a:ext cx="185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1900" b="1">
                <a:solidFill>
                  <a:srgbClr val="232F3E"/>
                </a:solidFill>
                <a:latin typeface="Arial"/>
              </a:rPr>
              <a:t>AWS Platform</a:t>
            </a:r>
          </a:p>
        </p:txBody>
      </p:sp>
      <p:sp>
        <p:nvSpPr>
          <p:cNvPr id="13" name="Shape 13"/>
          <p:cNvSpPr/>
          <p:nvPr/>
        </p:nvSpPr>
        <p:spPr>
          <a:xfrm>
            <a:off x="9850000" y="1840000"/>
            <a:ext cx="1300000" cy="13000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Shape 14"/>
          <p:cNvSpPr/>
          <p:nvPr/>
        </p:nvSpPr>
        <p:spPr>
          <a:xfrm>
            <a:off x="9480000" y="2050000"/>
            <a:ext cx="1980000" cy="36000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ext 15"/>
          <p:cNvSpPr txBox="1"/>
          <p:nvPr/>
        </p:nvSpPr>
        <p:spPr>
          <a:xfrm>
            <a:off x="9560000" y="2126000"/>
            <a:ext cx="1820000" cy="1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1350" b="1">
                <a:solidFill>
                  <a:srgbClr val="FFFFFF"/>
                </a:solidFill>
                <a:latin typeface="Arial"/>
              </a:rPr>
              <a:t>GitHub</a:t>
            </a:r>
          </a:p>
        </p:txBody>
      </p:sp>
      <p:sp>
        <p:nvSpPr>
          <p:cNvPr id="16" name="Shape 16"/>
          <p:cNvSpPr/>
          <p:nvPr/>
        </p:nvSpPr>
        <p:spPr>
          <a:xfrm>
            <a:off x="9480000" y="2620000"/>
            <a:ext cx="1980000" cy="36000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Text 17"/>
          <p:cNvSpPr txBox="1"/>
          <p:nvPr/>
        </p:nvSpPr>
        <p:spPr>
          <a:xfrm>
            <a:off x="9560000" y="2696000"/>
            <a:ext cx="1820000" cy="1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1350" b="1">
                <a:solidFill>
                  <a:srgbClr val="FFFFFF"/>
                </a:solidFill>
                <a:latin typeface="Arial"/>
              </a:rPr>
              <a:t>GitHub Actions</a:t>
            </a:r>
          </a:p>
        </p:txBody>
      </p:sp>
      <p:sp>
        <p:nvSpPr>
          <p:cNvPr id="18" name="Shape 18"/>
          <p:cNvSpPr/>
          <p:nvPr/>
        </p:nvSpPr>
        <p:spPr>
          <a:xfrm>
            <a:off x="9480000" y="3190000"/>
            <a:ext cx="1980000" cy="36000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Text 19"/>
          <p:cNvSpPr txBox="1"/>
          <p:nvPr/>
        </p:nvSpPr>
        <p:spPr>
          <a:xfrm>
            <a:off x="9560000" y="3266000"/>
            <a:ext cx="1820000" cy="1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1350" b="1">
                <a:solidFill>
                  <a:srgbClr val="FFFFFF"/>
                </a:solidFill>
                <a:latin typeface="Arial"/>
              </a:rPr>
              <a:t>Docker Hub</a:t>
            </a:r>
          </a:p>
        </p:txBody>
      </p:sp>
      <p:sp>
        <p:nvSpPr>
          <p:cNvPr id="20" name="Shape 20"/>
          <p:cNvSpPr/>
          <p:nvPr/>
        </p:nvSpPr>
        <p:spPr>
          <a:xfrm>
            <a:off x="9480000" y="3760000"/>
            <a:ext cx="1980000" cy="36000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Text 21"/>
          <p:cNvSpPr txBox="1"/>
          <p:nvPr/>
        </p:nvSpPr>
        <p:spPr>
          <a:xfrm>
            <a:off x="9560000" y="3836000"/>
            <a:ext cx="1820000" cy="1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1350" b="1">
                <a:solidFill>
                  <a:srgbClr val="FFFFFF"/>
                </a:solidFill>
                <a:latin typeface="Arial"/>
              </a:rPr>
              <a:t>ArgoCD</a:t>
            </a:r>
          </a:p>
        </p:txBody>
      </p:sp>
      <p:sp>
        <p:nvSpPr>
          <p:cNvPr id="22" name="Shape 22"/>
          <p:cNvSpPr/>
          <p:nvPr/>
        </p:nvSpPr>
        <p:spPr>
          <a:xfrm>
            <a:off x="9480000" y="4330000"/>
            <a:ext cx="1980000" cy="36000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Text 23"/>
          <p:cNvSpPr txBox="1"/>
          <p:nvPr/>
        </p:nvSpPr>
        <p:spPr>
          <a:xfrm>
            <a:off x="9560000" y="4406000"/>
            <a:ext cx="1820000" cy="1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1350" b="1">
                <a:solidFill>
                  <a:srgbClr val="FFFFFF"/>
                </a:solidFill>
                <a:latin typeface="Arial"/>
              </a:rPr>
              <a:t>EKS + 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hape 3"/>
          <p:cNvSpPr/>
          <p:nvPr/>
        </p:nvSpPr>
        <p:spPr>
          <a:xfrm>
            <a:off x="0" y="0"/>
            <a:ext cx="12192000" cy="620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Shape 4"/>
          <p:cNvSpPr/>
          <p:nvPr/>
        </p:nvSpPr>
        <p:spPr>
          <a:xfrm>
            <a:off x="0" y="620000"/>
            <a:ext cx="12192000" cy="76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hape 5"/>
          <p:cNvSpPr/>
          <p:nvPr/>
        </p:nvSpPr>
        <p:spPr>
          <a:xfrm>
            <a:off x="0" y="6580000"/>
            <a:ext cx="12192000" cy="278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Text 6"/>
          <p:cNvSpPr txBox="1"/>
          <p:nvPr/>
        </p:nvSpPr>
        <p:spPr>
          <a:xfrm>
            <a:off x="520000" y="145000"/>
            <a:ext cx="77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000" b="1">
                <a:solidFill>
                  <a:srgbClr val="FFFFFF"/>
                </a:solidFill>
                <a:latin typeface="Arial"/>
              </a:rPr>
              <a:t>Application Layer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700000" y="18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500" b="0">
                <a:solidFill>
                  <a:srgbClr val="D1D5DB"/>
                </a:solidFill>
                <a:latin typeface="Arial"/>
              </a:rPr>
              <a:t>04 / 10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50000" y="900000"/>
            <a:ext cx="8700000" cy="8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000" b="1">
                <a:solidFill>
                  <a:srgbClr val="232F3E"/>
                </a:solidFill>
                <a:latin typeface="Arial"/>
              </a:rPr>
              <a:t>The frontend now visibly proves its backend and database connection.</a:t>
            </a:r>
          </a:p>
        </p:txBody>
      </p:sp>
      <p:sp>
        <p:nvSpPr>
          <p:cNvPr id="9" name="Bullets 9"/>
          <p:cNvSpPr txBox="1"/>
          <p:nvPr/>
        </p:nvSpPr>
        <p:spPr>
          <a:xfrm>
            <a:off x="760000" y="2220000"/>
            <a:ext cx="7750000" cy="3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Frontend dashboard served by Nginx</a:t>
            </a:r>
          </a:p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Nginx proxies /api traffic to the backend service</a:t>
            </a:r>
          </a:p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Backend exposes /api/summary, /api/database, and /metrics</a:t>
            </a:r>
          </a:p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Local Docker Compose uses Postgres; production uses RDS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0000" y="6652000"/>
            <a:ext cx="6000000" cy="17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100" b="0">
                <a:solidFill>
                  <a:srgbClr val="FFFFFF"/>
                </a:solidFill>
                <a:latin typeface="Arial"/>
              </a:rPr>
              <a:t>CloudOpsHub | Application connectivity</a:t>
            </a:r>
          </a:p>
        </p:txBody>
      </p:sp>
      <p:sp>
        <p:nvSpPr>
          <p:cNvPr id="11" name="Shape 11"/>
          <p:cNvSpPr/>
          <p:nvPr/>
        </p:nvSpPr>
        <p:spPr>
          <a:xfrm>
            <a:off x="9300000" y="1180000"/>
            <a:ext cx="2350000" cy="445000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 12"/>
          <p:cNvSpPr txBox="1"/>
          <p:nvPr/>
        </p:nvSpPr>
        <p:spPr>
          <a:xfrm>
            <a:off x="9570000" y="1430000"/>
            <a:ext cx="185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1900" b="1">
                <a:solidFill>
                  <a:srgbClr val="232F3E"/>
                </a:solidFill>
                <a:latin typeface="Arial"/>
              </a:rPr>
              <a:t>AWS Platform</a:t>
            </a:r>
          </a:p>
        </p:txBody>
      </p:sp>
      <p:sp>
        <p:nvSpPr>
          <p:cNvPr id="13" name="Shape 13"/>
          <p:cNvSpPr/>
          <p:nvPr/>
        </p:nvSpPr>
        <p:spPr>
          <a:xfrm>
            <a:off x="9850000" y="1840000"/>
            <a:ext cx="1300000" cy="13000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Shape 14"/>
          <p:cNvSpPr/>
          <p:nvPr/>
        </p:nvSpPr>
        <p:spPr>
          <a:xfrm>
            <a:off x="9580000" y="2280000"/>
            <a:ext cx="1800000" cy="120000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ext 15"/>
          <p:cNvSpPr txBox="1"/>
          <p:nvPr/>
        </p:nvSpPr>
        <p:spPr>
          <a:xfrm>
            <a:off x="9720000" y="2560000"/>
            <a:ext cx="152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1700" b="1">
                <a:solidFill>
                  <a:srgbClr val="FFFFFF"/>
                </a:solidFill>
                <a:latin typeface="Arial"/>
              </a:rPr>
              <a:t>Browser -&gt; Frontend -&gt; Backend API -&gt; RDS PostgreSQL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hape 3"/>
          <p:cNvSpPr/>
          <p:nvPr/>
        </p:nvSpPr>
        <p:spPr>
          <a:xfrm>
            <a:off x="0" y="0"/>
            <a:ext cx="12192000" cy="620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Shape 4"/>
          <p:cNvSpPr/>
          <p:nvPr/>
        </p:nvSpPr>
        <p:spPr>
          <a:xfrm>
            <a:off x="0" y="620000"/>
            <a:ext cx="12192000" cy="76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hape 5"/>
          <p:cNvSpPr/>
          <p:nvPr/>
        </p:nvSpPr>
        <p:spPr>
          <a:xfrm>
            <a:off x="0" y="6580000"/>
            <a:ext cx="12192000" cy="278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Text 6"/>
          <p:cNvSpPr txBox="1"/>
          <p:nvPr/>
        </p:nvSpPr>
        <p:spPr>
          <a:xfrm>
            <a:off x="520000" y="145000"/>
            <a:ext cx="77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000" b="1">
                <a:solidFill>
                  <a:srgbClr val="FFFFFF"/>
                </a:solidFill>
                <a:latin typeface="Arial"/>
              </a:rPr>
              <a:t>AWS Production Deployment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700000" y="18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500" b="0">
                <a:solidFill>
                  <a:srgbClr val="D1D5DB"/>
                </a:solidFill>
                <a:latin typeface="Arial"/>
              </a:rPr>
              <a:t>05 / 10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50000" y="900000"/>
            <a:ext cx="8700000" cy="8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000" b="1">
                <a:solidFill>
                  <a:srgbClr val="232F3E"/>
                </a:solidFill>
                <a:latin typeface="Arial"/>
              </a:rPr>
              <a:t>Production runs on Amazon EKS with multi-AZ worker placement.</a:t>
            </a:r>
          </a:p>
        </p:txBody>
      </p:sp>
      <p:sp>
        <p:nvSpPr>
          <p:cNvPr id="9" name="Bullets 9"/>
          <p:cNvSpPr txBox="1"/>
          <p:nvPr/>
        </p:nvSpPr>
        <p:spPr>
          <a:xfrm>
            <a:off x="760000" y="2220000"/>
            <a:ext cx="7750000" cy="3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Cluster: cloudopshub-prod in us-east-1</a:t>
            </a:r>
          </a:p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Four verified worker nodes across us-east-1a and us-east-1b</a:t>
            </a:r>
          </a:p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Frontend and backend run with two replicas</a:t>
            </a:r>
          </a:p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Kubernetes namespace: cloudopshub</a:t>
            </a:r>
          </a:p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RDS PostgreSQL Multi-AZ replaces the in-cluster database for production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0000" y="6652000"/>
            <a:ext cx="6000000" cy="17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100" b="0">
                <a:solidFill>
                  <a:srgbClr val="FFFFFF"/>
                </a:solidFill>
                <a:latin typeface="Arial"/>
              </a:rPr>
              <a:t>CloudOpsHub | Compute and database</a:t>
            </a:r>
          </a:p>
        </p:txBody>
      </p:sp>
      <p:sp>
        <p:nvSpPr>
          <p:cNvPr id="11" name="Shape 11"/>
          <p:cNvSpPr/>
          <p:nvPr/>
        </p:nvSpPr>
        <p:spPr>
          <a:xfrm>
            <a:off x="9300000" y="1180000"/>
            <a:ext cx="2350000" cy="445000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 12"/>
          <p:cNvSpPr txBox="1"/>
          <p:nvPr/>
        </p:nvSpPr>
        <p:spPr>
          <a:xfrm>
            <a:off x="9570000" y="1430000"/>
            <a:ext cx="185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1900" b="1">
                <a:solidFill>
                  <a:srgbClr val="232F3E"/>
                </a:solidFill>
                <a:latin typeface="Arial"/>
              </a:rPr>
              <a:t>AWS Platform</a:t>
            </a:r>
          </a:p>
        </p:txBody>
      </p:sp>
      <p:sp>
        <p:nvSpPr>
          <p:cNvPr id="13" name="Shape 13"/>
          <p:cNvSpPr/>
          <p:nvPr/>
        </p:nvSpPr>
        <p:spPr>
          <a:xfrm>
            <a:off x="9850000" y="1840000"/>
            <a:ext cx="1300000" cy="13000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Text 14"/>
          <p:cNvSpPr txBox="1"/>
          <p:nvPr/>
        </p:nvSpPr>
        <p:spPr>
          <a:xfrm>
            <a:off x="9580000" y="2250000"/>
            <a:ext cx="1800000" cy="1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2350" b="1">
                <a:solidFill>
                  <a:srgbClr val="232F3E"/>
                </a:solidFill>
                <a:latin typeface="Arial"/>
              </a:rPr>
              <a:t>Reliable
Observable
Repeatable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hape 3"/>
          <p:cNvSpPr/>
          <p:nvPr/>
        </p:nvSpPr>
        <p:spPr>
          <a:xfrm>
            <a:off x="0" y="0"/>
            <a:ext cx="12192000" cy="620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Shape 4"/>
          <p:cNvSpPr/>
          <p:nvPr/>
        </p:nvSpPr>
        <p:spPr>
          <a:xfrm>
            <a:off x="0" y="620000"/>
            <a:ext cx="12192000" cy="76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hape 5"/>
          <p:cNvSpPr/>
          <p:nvPr/>
        </p:nvSpPr>
        <p:spPr>
          <a:xfrm>
            <a:off x="0" y="6580000"/>
            <a:ext cx="12192000" cy="278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Text 6"/>
          <p:cNvSpPr txBox="1"/>
          <p:nvPr/>
        </p:nvSpPr>
        <p:spPr>
          <a:xfrm>
            <a:off x="520000" y="145000"/>
            <a:ext cx="77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000" b="1">
                <a:solidFill>
                  <a:srgbClr val="FFFFFF"/>
                </a:solidFill>
                <a:latin typeface="Arial"/>
              </a:rPr>
              <a:t>Public Access and HTTPS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700000" y="18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500" b="0">
                <a:solidFill>
                  <a:srgbClr val="D1D5DB"/>
                </a:solidFill>
                <a:latin typeface="Arial"/>
              </a:rPr>
              <a:t>06 / 10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50000" y="900000"/>
            <a:ext cx="8700000" cy="8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000" b="1">
                <a:solidFill>
                  <a:srgbClr val="232F3E"/>
                </a:solidFill>
                <a:latin typeface="Arial"/>
              </a:rPr>
              <a:t>The application is exposed securely through AWS ALB and Route 53.</a:t>
            </a:r>
          </a:p>
        </p:txBody>
      </p:sp>
      <p:sp>
        <p:nvSpPr>
          <p:cNvPr id="9" name="Bullets 9"/>
          <p:cNvSpPr txBox="1"/>
          <p:nvPr/>
        </p:nvSpPr>
        <p:spPr>
          <a:xfrm>
            <a:off x="760000" y="2220000"/>
            <a:ext cx="7750000" cy="3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Domain: devopslegend.click</a:t>
            </a:r>
          </a:p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Application host: app.devopslegend.click</a:t>
            </a:r>
          </a:p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ACM certificate attached to the ALB ingress</a:t>
            </a:r>
          </a:p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HTTP redirects to HTTPS on port 443</a:t>
            </a:r>
          </a:p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Final validation returned HTTP/2 200 from the HTTPS endpoint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0000" y="6652000"/>
            <a:ext cx="6000000" cy="17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100" b="0">
                <a:solidFill>
                  <a:srgbClr val="FFFFFF"/>
                </a:solidFill>
                <a:latin typeface="Arial"/>
              </a:rPr>
              <a:t>CloudOpsHub | ALB, ACM, and Route 53</a:t>
            </a:r>
          </a:p>
        </p:txBody>
      </p:sp>
      <p:sp>
        <p:nvSpPr>
          <p:cNvPr id="11" name="Shape 11"/>
          <p:cNvSpPr/>
          <p:nvPr/>
        </p:nvSpPr>
        <p:spPr>
          <a:xfrm>
            <a:off x="9300000" y="1180000"/>
            <a:ext cx="2350000" cy="445000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 12"/>
          <p:cNvSpPr txBox="1"/>
          <p:nvPr/>
        </p:nvSpPr>
        <p:spPr>
          <a:xfrm>
            <a:off x="9570000" y="1430000"/>
            <a:ext cx="185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1900" b="1">
                <a:solidFill>
                  <a:srgbClr val="232F3E"/>
                </a:solidFill>
                <a:latin typeface="Arial"/>
              </a:rPr>
              <a:t>AWS Platform</a:t>
            </a:r>
          </a:p>
        </p:txBody>
      </p:sp>
      <p:sp>
        <p:nvSpPr>
          <p:cNvPr id="13" name="Shape 13"/>
          <p:cNvSpPr/>
          <p:nvPr/>
        </p:nvSpPr>
        <p:spPr>
          <a:xfrm>
            <a:off x="9850000" y="1840000"/>
            <a:ext cx="1300000" cy="13000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Shape 14"/>
          <p:cNvSpPr/>
          <p:nvPr/>
        </p:nvSpPr>
        <p:spPr>
          <a:xfrm>
            <a:off x="9580000" y="2280000"/>
            <a:ext cx="1800000" cy="120000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ext 15"/>
          <p:cNvSpPr txBox="1"/>
          <p:nvPr/>
        </p:nvSpPr>
        <p:spPr>
          <a:xfrm>
            <a:off x="9720000" y="2560000"/>
            <a:ext cx="152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1700" b="1">
                <a:solidFill>
                  <a:srgbClr val="FFFFFF"/>
                </a:solidFill>
                <a:latin typeface="Arial"/>
              </a:rPr>
              <a:t>https://app.devopslegend.click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hape 3"/>
          <p:cNvSpPr/>
          <p:nvPr/>
        </p:nvSpPr>
        <p:spPr>
          <a:xfrm>
            <a:off x="0" y="0"/>
            <a:ext cx="12192000" cy="620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Shape 4"/>
          <p:cNvSpPr/>
          <p:nvPr/>
        </p:nvSpPr>
        <p:spPr>
          <a:xfrm>
            <a:off x="0" y="620000"/>
            <a:ext cx="12192000" cy="76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hape 5"/>
          <p:cNvSpPr/>
          <p:nvPr/>
        </p:nvSpPr>
        <p:spPr>
          <a:xfrm>
            <a:off x="0" y="6580000"/>
            <a:ext cx="12192000" cy="278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Text 6"/>
          <p:cNvSpPr txBox="1"/>
          <p:nvPr/>
        </p:nvSpPr>
        <p:spPr>
          <a:xfrm>
            <a:off x="520000" y="145000"/>
            <a:ext cx="77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000" b="1">
                <a:solidFill>
                  <a:srgbClr val="FFFFFF"/>
                </a:solidFill>
                <a:latin typeface="Arial"/>
              </a:rPr>
              <a:t>CI/CD and GitOps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700000" y="18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500" b="0">
                <a:solidFill>
                  <a:srgbClr val="D1D5DB"/>
                </a:solidFill>
                <a:latin typeface="Arial"/>
              </a:rPr>
              <a:t>07 / 10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50000" y="900000"/>
            <a:ext cx="8700000" cy="8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000" b="1">
                <a:solidFill>
                  <a:srgbClr val="232F3E"/>
                </a:solidFill>
                <a:latin typeface="Arial"/>
              </a:rPr>
              <a:t>The pipeline builds images and lets ArgoCD deploy from Git.</a:t>
            </a:r>
          </a:p>
        </p:txBody>
      </p:sp>
      <p:sp>
        <p:nvSpPr>
          <p:cNvPr id="9" name="Bullets 9"/>
          <p:cNvSpPr txBox="1"/>
          <p:nvPr/>
        </p:nvSpPr>
        <p:spPr>
          <a:xfrm>
            <a:off x="760000" y="2220000"/>
            <a:ext cx="7750000" cy="3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Workflow builds frontend, backend, and db images</a:t>
            </a:r>
          </a:p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Docker Hub tags include latest and the Git commit SHA</a:t>
            </a:r>
          </a:p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Trivy scans images for high and critical vulnerabilities</a:t>
            </a:r>
          </a:p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Workflow updates frontend and backend ArgoCD image.tag values</a:t>
            </a:r>
          </a:p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ArgoCD syncs the SHA-tagged images into production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0000" y="6652000"/>
            <a:ext cx="6000000" cy="17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100" b="0">
                <a:solidFill>
                  <a:srgbClr val="FFFFFF"/>
                </a:solidFill>
                <a:latin typeface="Arial"/>
              </a:rPr>
              <a:t>CloudOpsHub | GitHub Actions plus ArgoCD</a:t>
            </a:r>
          </a:p>
        </p:txBody>
      </p:sp>
      <p:sp>
        <p:nvSpPr>
          <p:cNvPr id="11" name="Shape 11"/>
          <p:cNvSpPr/>
          <p:nvPr/>
        </p:nvSpPr>
        <p:spPr>
          <a:xfrm>
            <a:off x="9300000" y="1180000"/>
            <a:ext cx="2350000" cy="445000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 12"/>
          <p:cNvSpPr txBox="1"/>
          <p:nvPr/>
        </p:nvSpPr>
        <p:spPr>
          <a:xfrm>
            <a:off x="9570000" y="1430000"/>
            <a:ext cx="185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1900" b="1">
                <a:solidFill>
                  <a:srgbClr val="232F3E"/>
                </a:solidFill>
                <a:latin typeface="Arial"/>
              </a:rPr>
              <a:t>AWS Platform</a:t>
            </a:r>
          </a:p>
        </p:txBody>
      </p:sp>
      <p:sp>
        <p:nvSpPr>
          <p:cNvPr id="13" name="Shape 13"/>
          <p:cNvSpPr/>
          <p:nvPr/>
        </p:nvSpPr>
        <p:spPr>
          <a:xfrm>
            <a:off x="9850000" y="1840000"/>
            <a:ext cx="1300000" cy="13000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Text 14"/>
          <p:cNvSpPr txBox="1"/>
          <p:nvPr/>
        </p:nvSpPr>
        <p:spPr>
          <a:xfrm>
            <a:off x="9580000" y="2250000"/>
            <a:ext cx="1800000" cy="1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2350" b="1">
                <a:solidFill>
                  <a:srgbClr val="232F3E"/>
                </a:solidFill>
                <a:latin typeface="Arial"/>
              </a:rPr>
              <a:t>Reliable
Observable
Repeatable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hape 3"/>
          <p:cNvSpPr/>
          <p:nvPr/>
        </p:nvSpPr>
        <p:spPr>
          <a:xfrm>
            <a:off x="0" y="0"/>
            <a:ext cx="12192000" cy="620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Shape 4"/>
          <p:cNvSpPr/>
          <p:nvPr/>
        </p:nvSpPr>
        <p:spPr>
          <a:xfrm>
            <a:off x="0" y="620000"/>
            <a:ext cx="12192000" cy="76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hape 5"/>
          <p:cNvSpPr/>
          <p:nvPr/>
        </p:nvSpPr>
        <p:spPr>
          <a:xfrm>
            <a:off x="0" y="6580000"/>
            <a:ext cx="12192000" cy="278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Text 6"/>
          <p:cNvSpPr txBox="1"/>
          <p:nvPr/>
        </p:nvSpPr>
        <p:spPr>
          <a:xfrm>
            <a:off x="520000" y="145000"/>
            <a:ext cx="77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000" b="1">
                <a:solidFill>
                  <a:srgbClr val="FFFFFF"/>
                </a:solidFill>
                <a:latin typeface="Arial"/>
              </a:rPr>
              <a:t>Observability and Alerting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700000" y="18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500" b="0">
                <a:solidFill>
                  <a:srgbClr val="D1D5DB"/>
                </a:solidFill>
                <a:latin typeface="Arial"/>
              </a:rPr>
              <a:t>08 / 10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50000" y="900000"/>
            <a:ext cx="8700000" cy="8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000" b="1">
                <a:solidFill>
                  <a:srgbClr val="232F3E"/>
                </a:solidFill>
                <a:latin typeface="Arial"/>
              </a:rPr>
              <a:t>Metrics, logs, dashboards, and alert routing were added after deployment.</a:t>
            </a:r>
          </a:p>
        </p:txBody>
      </p:sp>
      <p:sp>
        <p:nvSpPr>
          <p:cNvPr id="9" name="Bullets 9"/>
          <p:cNvSpPr txBox="1"/>
          <p:nvPr/>
        </p:nvSpPr>
        <p:spPr>
          <a:xfrm>
            <a:off x="760000" y="2220000"/>
            <a:ext cx="7750000" cy="3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Prometheus scrapes backend /metrics through ServiceMonitor</a:t>
            </a:r>
          </a:p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Grafana dashboard shows backend scrape health and RDS reachability</a:t>
            </a:r>
          </a:p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Loki and Grafana Alloy collect CloudOpsHub pod logs</a:t>
            </a:r>
          </a:p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AlertmanagerConfig routes warning and critical alerts to Slack</a:t>
            </a:r>
          </a:p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Test alert and direct Slack webhook confirmed the route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0000" y="6652000"/>
            <a:ext cx="6000000" cy="17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100" b="0">
                <a:solidFill>
                  <a:srgbClr val="FFFFFF"/>
                </a:solidFill>
                <a:latin typeface="Arial"/>
              </a:rPr>
              <a:t>CloudOpsHub | Monitoring, logs, alerts</a:t>
            </a:r>
          </a:p>
        </p:txBody>
      </p:sp>
      <p:sp>
        <p:nvSpPr>
          <p:cNvPr id="11" name="Shape 11"/>
          <p:cNvSpPr/>
          <p:nvPr/>
        </p:nvSpPr>
        <p:spPr>
          <a:xfrm>
            <a:off x="9300000" y="1180000"/>
            <a:ext cx="2350000" cy="445000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 12"/>
          <p:cNvSpPr txBox="1"/>
          <p:nvPr/>
        </p:nvSpPr>
        <p:spPr>
          <a:xfrm>
            <a:off x="9570000" y="1430000"/>
            <a:ext cx="185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1900" b="1">
                <a:solidFill>
                  <a:srgbClr val="232F3E"/>
                </a:solidFill>
                <a:latin typeface="Arial"/>
              </a:rPr>
              <a:t>AWS Platform</a:t>
            </a:r>
          </a:p>
        </p:txBody>
      </p:sp>
      <p:sp>
        <p:nvSpPr>
          <p:cNvPr id="13" name="Shape 13"/>
          <p:cNvSpPr/>
          <p:nvPr/>
        </p:nvSpPr>
        <p:spPr>
          <a:xfrm>
            <a:off x="9850000" y="1840000"/>
            <a:ext cx="1300000" cy="13000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Text 14"/>
          <p:cNvSpPr txBox="1"/>
          <p:nvPr/>
        </p:nvSpPr>
        <p:spPr>
          <a:xfrm>
            <a:off x="9580000" y="2250000"/>
            <a:ext cx="1800000" cy="1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2350" b="1">
                <a:solidFill>
                  <a:srgbClr val="232F3E"/>
                </a:solidFill>
                <a:latin typeface="Arial"/>
              </a:rPr>
              <a:t>Reliable
Observable
Repeatable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hape 3"/>
          <p:cNvSpPr/>
          <p:nvPr/>
        </p:nvSpPr>
        <p:spPr>
          <a:xfrm>
            <a:off x="0" y="0"/>
            <a:ext cx="12192000" cy="620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Shape 4"/>
          <p:cNvSpPr/>
          <p:nvPr/>
        </p:nvSpPr>
        <p:spPr>
          <a:xfrm>
            <a:off x="0" y="620000"/>
            <a:ext cx="12192000" cy="76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hape 5"/>
          <p:cNvSpPr/>
          <p:nvPr/>
        </p:nvSpPr>
        <p:spPr>
          <a:xfrm>
            <a:off x="0" y="6580000"/>
            <a:ext cx="12192000" cy="278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Text 6"/>
          <p:cNvSpPr txBox="1"/>
          <p:nvPr/>
        </p:nvSpPr>
        <p:spPr>
          <a:xfrm>
            <a:off x="520000" y="145000"/>
            <a:ext cx="77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000" b="1">
                <a:solidFill>
                  <a:srgbClr val="FFFFFF"/>
                </a:solidFill>
                <a:latin typeface="Arial"/>
              </a:rPr>
              <a:t>Backups and Recovery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700000" y="18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500" b="0">
                <a:solidFill>
                  <a:srgbClr val="D1D5DB"/>
                </a:solidFill>
                <a:latin typeface="Arial"/>
              </a:rPr>
              <a:t>09 / 10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50000" y="900000"/>
            <a:ext cx="8700000" cy="8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000" b="1">
                <a:solidFill>
                  <a:srgbClr val="232F3E"/>
                </a:solidFill>
                <a:latin typeface="Arial"/>
              </a:rPr>
              <a:t>Recovery was tested, not just documented.</a:t>
            </a:r>
          </a:p>
        </p:txBody>
      </p:sp>
      <p:sp>
        <p:nvSpPr>
          <p:cNvPr id="9" name="Bullets 9"/>
          <p:cNvSpPr txBox="1"/>
          <p:nvPr/>
        </p:nvSpPr>
        <p:spPr>
          <a:xfrm>
            <a:off x="760000" y="2220000"/>
            <a:ext cx="7750000" cy="3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RDS snapshot script waits for DB availability before snapshot creation</a:t>
            </a:r>
          </a:p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Velero backs up Kubernetes resources to AWS/S3</a:t>
            </a:r>
          </a:p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Restore validation runs in cloudopshub-restore-test</a:t>
            </a:r>
          </a:p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Frontend and backend restored successfully with 2/2 replicas available</a:t>
            </a:r>
          </a:p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ALB TargetGroupBindings are excluded to avoid conflicts with production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0000" y="6652000"/>
            <a:ext cx="6000000" cy="17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100" b="0">
                <a:solidFill>
                  <a:srgbClr val="FFFFFF"/>
                </a:solidFill>
                <a:latin typeface="Arial"/>
              </a:rPr>
              <a:t>CloudOpsHub | Backup and restore validation</a:t>
            </a:r>
          </a:p>
        </p:txBody>
      </p:sp>
      <p:sp>
        <p:nvSpPr>
          <p:cNvPr id="11" name="Shape 11"/>
          <p:cNvSpPr/>
          <p:nvPr/>
        </p:nvSpPr>
        <p:spPr>
          <a:xfrm>
            <a:off x="9300000" y="1180000"/>
            <a:ext cx="2350000" cy="445000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 12"/>
          <p:cNvSpPr txBox="1"/>
          <p:nvPr/>
        </p:nvSpPr>
        <p:spPr>
          <a:xfrm>
            <a:off x="9570000" y="1430000"/>
            <a:ext cx="185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1900" b="1">
                <a:solidFill>
                  <a:srgbClr val="232F3E"/>
                </a:solidFill>
                <a:latin typeface="Arial"/>
              </a:rPr>
              <a:t>AWS Platform</a:t>
            </a:r>
          </a:p>
        </p:txBody>
      </p:sp>
      <p:sp>
        <p:nvSpPr>
          <p:cNvPr id="13" name="Shape 13"/>
          <p:cNvSpPr/>
          <p:nvPr/>
        </p:nvSpPr>
        <p:spPr>
          <a:xfrm>
            <a:off x="9850000" y="1840000"/>
            <a:ext cx="1300000" cy="13000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Text 14"/>
          <p:cNvSpPr txBox="1"/>
          <p:nvPr/>
        </p:nvSpPr>
        <p:spPr>
          <a:xfrm>
            <a:off x="9580000" y="2250000"/>
            <a:ext cx="1800000" cy="1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2350" b="1">
                <a:solidFill>
                  <a:srgbClr val="232F3E"/>
                </a:solidFill>
                <a:latin typeface="Arial"/>
              </a:rPr>
              <a:t>Reliable
Observable
Repeatable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hape 3"/>
          <p:cNvSpPr/>
          <p:nvPr/>
        </p:nvSpPr>
        <p:spPr>
          <a:xfrm>
            <a:off x="0" y="0"/>
            <a:ext cx="12192000" cy="620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Shape 4"/>
          <p:cNvSpPr/>
          <p:nvPr/>
        </p:nvSpPr>
        <p:spPr>
          <a:xfrm>
            <a:off x="0" y="620000"/>
            <a:ext cx="12192000" cy="76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Shape 5"/>
          <p:cNvSpPr/>
          <p:nvPr/>
        </p:nvSpPr>
        <p:spPr>
          <a:xfrm>
            <a:off x="0" y="6580000"/>
            <a:ext cx="12192000" cy="278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Text 6"/>
          <p:cNvSpPr txBox="1"/>
          <p:nvPr/>
        </p:nvSpPr>
        <p:spPr>
          <a:xfrm>
            <a:off x="520000" y="145000"/>
            <a:ext cx="77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000" b="1">
                <a:solidFill>
                  <a:srgbClr val="FFFFFF"/>
                </a:solidFill>
                <a:latin typeface="Arial"/>
              </a:rPr>
              <a:t>Blockers Resolved and Final State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700000" y="18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500" b="0">
                <a:solidFill>
                  <a:srgbClr val="D1D5DB"/>
                </a:solidFill>
                <a:latin typeface="Arial"/>
              </a:rPr>
              <a:t>10 / 10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50000" y="900000"/>
            <a:ext cx="8700000" cy="8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000" b="1">
                <a:solidFill>
                  <a:srgbClr val="232F3E"/>
                </a:solidFill>
                <a:latin typeface="Arial"/>
              </a:rPr>
              <a:t>The project blockers became operational lessons and stronger runbooks.</a:t>
            </a:r>
          </a:p>
        </p:txBody>
      </p:sp>
      <p:sp>
        <p:nvSpPr>
          <p:cNvPr id="9" name="Bullets 9"/>
          <p:cNvSpPr txBox="1"/>
          <p:nvPr/>
        </p:nvSpPr>
        <p:spPr>
          <a:xfrm>
            <a:off x="760000" y="2220000"/>
            <a:ext cx="7750000" cy="3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Resolved Docker Compose, Docker Hub login, namespace, and secret issues</a:t>
            </a:r>
          </a:p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Fixed old image tags, missing metrics, and failed Kubernetes rollouts</a:t>
            </a:r>
          </a:p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Fixed ALB controller VPC discovery, ACM validation, ingress, and DNS issues</a:t>
            </a:r>
          </a:p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Fixed Loki storage/read-only filesystem issues and Velero restore conflicts</a:t>
            </a:r>
          </a:p>
          <a:p>
            <a:pPr marL="342900" indent="-228600">
              <a:buChar char="?"/>
            </a:pPr>
            <a:r>
              <a:rPr lang="en-US" sz="2300">
                <a:solidFill>
                  <a:srgbClr val="111827"/>
                </a:solidFill>
                <a:latin typeface="Arial"/>
              </a:rPr>
              <a:t>Final state: HTTPS app, multi-AZ EKS, RDS, GitOps CI/CD, monitoring, logs, alerts, backups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0000" y="6652000"/>
            <a:ext cx="6000000" cy="17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100" b="0">
                <a:solidFill>
                  <a:srgbClr val="FFFFFF"/>
                </a:solidFill>
                <a:latin typeface="Arial"/>
              </a:rPr>
              <a:t>CloudOpsHub | Outcome and lessons</a:t>
            </a:r>
          </a:p>
        </p:txBody>
      </p:sp>
      <p:sp>
        <p:nvSpPr>
          <p:cNvPr id="11" name="Shape 11"/>
          <p:cNvSpPr/>
          <p:nvPr/>
        </p:nvSpPr>
        <p:spPr>
          <a:xfrm>
            <a:off x="9300000" y="1180000"/>
            <a:ext cx="2350000" cy="445000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 12"/>
          <p:cNvSpPr txBox="1"/>
          <p:nvPr/>
        </p:nvSpPr>
        <p:spPr>
          <a:xfrm>
            <a:off x="9570000" y="1430000"/>
            <a:ext cx="185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1900" b="1">
                <a:solidFill>
                  <a:srgbClr val="232F3E"/>
                </a:solidFill>
                <a:latin typeface="Arial"/>
              </a:rPr>
              <a:t>AWS Platform</a:t>
            </a:r>
          </a:p>
        </p:txBody>
      </p:sp>
      <p:sp>
        <p:nvSpPr>
          <p:cNvPr id="13" name="Shape 13"/>
          <p:cNvSpPr/>
          <p:nvPr/>
        </p:nvSpPr>
        <p:spPr>
          <a:xfrm>
            <a:off x="9850000" y="1840000"/>
            <a:ext cx="1300000" cy="13000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Text 14"/>
          <p:cNvSpPr txBox="1"/>
          <p:nvPr/>
        </p:nvSpPr>
        <p:spPr>
          <a:xfrm>
            <a:off x="9580000" y="2250000"/>
            <a:ext cx="1800000" cy="1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en-US" sz="2350" b="1">
                <a:solidFill>
                  <a:srgbClr val="232F3E"/>
                </a:solidFill>
                <a:latin typeface="Arial"/>
              </a:rPr>
              <a:t>Reliable
Observable
Repeatable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oudOpsHub AWS Style">
  <a:themeElements>
    <a:clrScheme name="AWS">
      <a:dk1>
        <a:srgbClr val="111827"/>
      </a:dk1>
      <a:lt1>
        <a:srgbClr val="FFFFFF"/>
      </a:lt1>
      <a:dk2>
        <a:srgbClr val="232F3E"/>
      </a:dk2>
      <a:lt2>
        <a:srgbClr val="F3F4F6"/>
      </a:lt2>
      <a:accent1>
        <a:srgbClr val="FF9900"/>
      </a:accent1>
      <a:accent2>
        <a:srgbClr val="1E88E5"/>
      </a:accent2>
      <a:accent3>
        <a:srgbClr val="2E7D32"/>
      </a:accent3>
      <a:accent4>
        <a:srgbClr val="6B7280"/>
      </a:accent4>
      <a:accent5>
        <a:srgbClr val="374151"/>
      </a:accent5>
      <a:accent6>
        <a:srgbClr val="F59E0B"/>
      </a:accent6>
      <a:hlink>
        <a:srgbClr val="2563EB"/>
      </a:hlink>
      <a:folHlink>
        <a:srgbClr val="7C3AED"/>
      </a:folHlink>
    </a:clrScheme>
    <a:fontScheme name="Arial">
      <a:majorFont>
        <a:latin typeface="Arial"/>
      </a:majorFont>
      <a:minorFont>
        <a:latin typeface="Arial"/>
      </a:minorFont>
    </a:fontScheme>
    <a:fmtScheme name="Default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